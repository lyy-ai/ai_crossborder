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480560" y="1097280"/>
            <a:ext cx="3200400" cy="3200400"/>
          </a:xfrm>
          <a:prstGeom prst="ellipse">
            <a:avLst/>
          </a:prstGeom>
          <a:solidFill>
            <a:srgbClr val="22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417320"/>
            <a:ext cx="121916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22C55E"/>
                </a:solidFill>
                <a:latin typeface="Microsoft YaHei"/>
              </a:rPr>
              <a:t>菜鸟黑客松 · 决赛路演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920240"/>
            <a:ext cx="121916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400" b="1">
                <a:solidFill>
                  <a:srgbClr val="F0F2F5"/>
                </a:solidFill>
                <a:latin typeface="Microsoft YaHei"/>
              </a:rPr>
              <a:t>跨境爆品短视频工厂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063240"/>
            <a:ext cx="121916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>
                <a:solidFill>
                  <a:srgbClr val="9AA0AE"/>
                </a:solidFill>
                <a:latin typeface="Microsoft YaHei"/>
              </a:rPr>
              <a:t>让每个跨境卖家都拥有一支 AI 短视频团队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4114800"/>
            <a:ext cx="5577840" cy="914400"/>
          </a:xfrm>
          <a:prstGeom prst="roundRect">
            <a:avLst>
              <a:gd name="adj" fmla="val 50000"/>
            </a:avLst>
          </a:prstGeom>
          <a:solidFill>
            <a:srgbClr val="1A1D27"/>
          </a:solidFill>
          <a:ln w="12700">
            <a:solidFill>
              <a:srgbClr val="222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4224528"/>
            <a:ext cx="5577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F0F2F5"/>
                </a:solidFill>
                <a:latin typeface="Microsoft YaHei"/>
              </a:rPr>
              <a:t>输入产品卖点和目标市场，5 分钟批量产出多平台、多语言带货短视频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5760720"/>
            <a:ext cx="121916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9AA0AE"/>
                </a:solidFill>
                <a:latin typeface="Microsoft YaHei"/>
              </a:rPr>
              <a:t>场景二 · AI 社媒营销 → AI 短视频批量生产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2C55E"/>
                </a:solidFill>
                <a:latin typeface="Microsoft YaHei"/>
              </a:rPr>
              <a:t>PAIN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0F2F5"/>
                </a:solidFill>
                <a:latin typeface="Microsoft YaHei"/>
              </a:rPr>
              <a:t>跨境短视频营销的三大痛点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1097280" cy="381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3520440" cy="3108960"/>
          </a:xfrm>
          <a:prstGeom prst="roundRect">
            <a:avLst>
              <a:gd name="adj" fmla="val 8000"/>
            </a:avLst>
          </a:prstGeom>
          <a:solidFill>
            <a:srgbClr val="1A1D27"/>
          </a:solidFill>
          <a:ln w="12700">
            <a:solidFill>
              <a:srgbClr val="222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2926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0">
                <a:solidFill>
                  <a:srgbClr val="F0F2F5"/>
                </a:solidFill>
                <a:latin typeface="Microsoft YaHei"/>
              </a:rPr>
              <a:t>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8036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0F2F5"/>
                </a:solidFill>
                <a:latin typeface="Microsoft YaHei"/>
              </a:rPr>
              <a:t>内容产能低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29000"/>
            <a:ext cx="2971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9AA0AE"/>
                </a:solidFill>
                <a:latin typeface="Microsoft YaHei"/>
              </a:rPr>
              <a:t>一个运营一天只能剪 3-5 条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9AA0AE"/>
                </a:solidFill>
                <a:latin typeface="Microsoft YaHei"/>
              </a:rPr>
              <a:t>多账号、多平台铺量根本做不过来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737360"/>
            <a:ext cx="3520440" cy="3108960"/>
          </a:xfrm>
          <a:prstGeom prst="roundRect">
            <a:avLst>
              <a:gd name="adj" fmla="val 8000"/>
            </a:avLst>
          </a:prstGeom>
          <a:solidFill>
            <a:srgbClr val="1A1D27"/>
          </a:solidFill>
          <a:ln w="12700">
            <a:solidFill>
              <a:srgbClr val="222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1965960"/>
            <a:ext cx="2926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0">
                <a:solidFill>
                  <a:srgbClr val="F0F2F5"/>
                </a:solidFill>
                <a:latin typeface="Microsoft YaHei"/>
              </a:rPr>
              <a:t>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288036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0F2F5"/>
                </a:solidFill>
                <a:latin typeface="Microsoft YaHei"/>
              </a:rPr>
              <a:t>多语言本地化贵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3429000"/>
            <a:ext cx="2971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9AA0AE"/>
                </a:solidFill>
                <a:latin typeface="Microsoft YaHei"/>
              </a:rPr>
              <a:t>外包配音 + 翻译 ¥200-800/条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9AA0AE"/>
                </a:solidFill>
                <a:latin typeface="Microsoft YaHei"/>
              </a:rPr>
              <a:t>周期长 1-3 天，热点追不上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737360"/>
            <a:ext cx="3520440" cy="3108960"/>
          </a:xfrm>
          <a:prstGeom prst="roundRect">
            <a:avLst>
              <a:gd name="adj" fmla="val 8000"/>
            </a:avLst>
          </a:prstGeom>
          <a:solidFill>
            <a:srgbClr val="1A1D27"/>
          </a:solidFill>
          <a:ln w="12700">
            <a:solidFill>
              <a:srgbClr val="222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1965960"/>
            <a:ext cx="2926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0">
                <a:solidFill>
                  <a:srgbClr val="F0F2F5"/>
                </a:solidFill>
                <a:latin typeface="Microsoft YaHei"/>
              </a:rPr>
              <a:t>⚠️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88036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0F2F5"/>
                </a:solidFill>
                <a:latin typeface="Microsoft YaHei"/>
              </a:rPr>
              <a:t>广告合规风险高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3429000"/>
            <a:ext cx="2971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9AA0AE"/>
                </a:solidFill>
                <a:latin typeface="Microsoft YaHei"/>
              </a:rPr>
              <a:t>FTC / 日本药机法 / 平台政策复杂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9AA0AE"/>
                </a:solidFill>
                <a:latin typeface="Microsoft YaHei"/>
              </a:rPr>
              <a:t>一次违规 = 下架甚至封号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3035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59E0B"/>
                </a:solidFill>
                <a:latin typeface="Microsoft YaHei"/>
              </a:rPr>
              <a:t>卖家真正缺的不是剪辑工具，而是一条「从卖点到成片」的自动化内容供应链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2C55E"/>
                </a:solidFill>
                <a:latin typeface="Microsoft YaHei"/>
              </a:rPr>
              <a:t>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0F2F5"/>
                </a:solidFill>
                <a:latin typeface="Microsoft YaHei"/>
              </a:rPr>
              <a:t>万亿赛道：跨境电商 × 短视频 ×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1097280" cy="381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3520440" cy="2286000"/>
          </a:xfrm>
          <a:prstGeom prst="roundRect">
            <a:avLst>
              <a:gd name="adj" fmla="val 8000"/>
            </a:avLst>
          </a:prstGeom>
          <a:solidFill>
            <a:srgbClr val="222633"/>
          </a:solidFill>
          <a:ln w="12700">
            <a:solidFill>
              <a:srgbClr val="222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29260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22C55E"/>
                </a:solidFill>
                <a:latin typeface="Microsoft YaHei"/>
              </a:rPr>
              <a:t>2.6 万亿+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2971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9AA0AE"/>
                </a:solidFill>
                <a:latin typeface="Microsoft YaHei"/>
              </a:rPr>
              <a:t>中国跨境电商出口规模（元）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9AA0AE"/>
                </a:solidFill>
                <a:latin typeface="Microsoft YaHei"/>
              </a:rPr>
              <a:t>连续多年两位数增长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737360"/>
            <a:ext cx="3520440" cy="2286000"/>
          </a:xfrm>
          <a:prstGeom prst="roundRect">
            <a:avLst>
              <a:gd name="adj" fmla="val 8000"/>
            </a:avLst>
          </a:prstGeom>
          <a:solidFill>
            <a:srgbClr val="222633"/>
          </a:solidFill>
          <a:ln w="12700">
            <a:solidFill>
              <a:srgbClr val="222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1920240"/>
            <a:ext cx="29260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22C55E"/>
                </a:solidFill>
                <a:latin typeface="Microsoft YaHei"/>
              </a:rPr>
              <a:t>短视频带货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743200"/>
            <a:ext cx="2971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9AA0AE"/>
                </a:solidFill>
                <a:latin typeface="Microsoft YaHei"/>
              </a:rPr>
              <a:t>TikTok Shop / Shorts / Reels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9AA0AE"/>
                </a:solidFill>
                <a:latin typeface="Microsoft YaHei"/>
              </a:rPr>
              <a:t>成为全球电商增长最快渠道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737360"/>
            <a:ext cx="3520440" cy="2286000"/>
          </a:xfrm>
          <a:prstGeom prst="roundRect">
            <a:avLst>
              <a:gd name="adj" fmla="val 8000"/>
            </a:avLst>
          </a:prstGeom>
          <a:solidFill>
            <a:srgbClr val="222633"/>
          </a:solidFill>
          <a:ln w="12700">
            <a:solidFill>
              <a:srgbClr val="222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1920240"/>
            <a:ext cx="29260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22C55E"/>
                </a:solidFill>
                <a:latin typeface="Microsoft YaHei"/>
              </a:rPr>
              <a:t>AI 内容生成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743200"/>
            <a:ext cx="2971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9AA0AE"/>
                </a:solidFill>
                <a:latin typeface="Microsoft YaHei"/>
              </a:rPr>
              <a:t>AIGC 营销内容渗透率快速提升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9AA0AE"/>
                </a:solidFill>
                <a:latin typeface="Microsoft YaHei"/>
              </a:rPr>
              <a:t>视频是转化率最高的素材形态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38912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600" b="1">
                <a:solidFill>
                  <a:srgbClr val="F0F2F5"/>
                </a:solidFill>
                <a:latin typeface="Microsoft YaHei"/>
              </a:rPr>
              <a:t>▪ 目标客户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>
                <a:solidFill>
                  <a:srgbClr val="9AA0AE"/>
                </a:solidFill>
                <a:latin typeface="Microsoft YaHei"/>
              </a:rPr>
              <a:t>  跨境电商卖家（TikTok Shop / 亚马逊 / 独立站）、MCN 机构、品牌出海服务商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600" b="1">
                <a:solidFill>
                  <a:srgbClr val="F0F2F5"/>
                </a:solidFill>
                <a:latin typeface="Microsoft YaHei"/>
              </a:rPr>
              <a:t>▪ 切入场景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>
                <a:solidFill>
                  <a:srgbClr val="9AA0AE"/>
                </a:solidFill>
                <a:latin typeface="Microsoft YaHei"/>
              </a:rPr>
              <a:t>  新品测款、爆品铺量、多市场本地化投放——都是高频刚需的短视频消耗场景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2C55E"/>
                </a:solidFill>
                <a:latin typeface="Microsoft YaHei"/>
              </a:rP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0F2F5"/>
                </a:solidFill>
                <a:latin typeface="Microsoft YaHei"/>
              </a:rPr>
              <a:t>一站式 AI 带货短视频生产线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1097280" cy="381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1920240"/>
            <a:ext cx="1755648" cy="1737360"/>
          </a:xfrm>
          <a:prstGeom prst="roundRect">
            <a:avLst>
              <a:gd name="adj" fmla="val 8000"/>
            </a:avLst>
          </a:prstGeom>
          <a:solidFill>
            <a:srgbClr val="1A1D27"/>
          </a:solidFill>
          <a:ln w="12700">
            <a:solidFill>
              <a:srgbClr val="222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2103120"/>
            <a:ext cx="175564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22C55E"/>
                </a:solidFill>
                <a:latin typeface="Microsoft YaHei"/>
              </a:rP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468880"/>
            <a:ext cx="175564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F0F2F5"/>
                </a:solidFill>
                <a:latin typeface="Microsoft YaHei"/>
              </a:rPr>
              <a:t>产品录入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926080"/>
            <a:ext cx="175564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9AA0AE"/>
                </a:solidFill>
                <a:latin typeface="Microsoft YaHei"/>
              </a:rPr>
              <a:t>名称+卖点+产品图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12264" y="2514600"/>
            <a:ext cx="365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22C55E"/>
                </a:solidFill>
                <a:latin typeface="Microsoft YaHe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50008" y="1920240"/>
            <a:ext cx="1755648" cy="1737360"/>
          </a:xfrm>
          <a:prstGeom prst="roundRect">
            <a:avLst>
              <a:gd name="adj" fmla="val 8000"/>
            </a:avLst>
          </a:prstGeom>
          <a:solidFill>
            <a:srgbClr val="222633"/>
          </a:solidFill>
          <a:ln w="12700">
            <a:solidFill>
              <a:srgbClr val="222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50008" y="2103120"/>
            <a:ext cx="175564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22C55E"/>
                </a:solidFill>
                <a:latin typeface="Microsoft YaHei"/>
              </a:rPr>
              <a:t>STEP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50008" y="2468880"/>
            <a:ext cx="175564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F0F2F5"/>
                </a:solidFill>
                <a:latin typeface="Microsoft YaHei"/>
              </a:rPr>
              <a:t>AI 脚本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50008" y="2926080"/>
            <a:ext cx="175564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9AA0AE"/>
                </a:solidFill>
                <a:latin typeface="Microsoft YaHei"/>
              </a:rPr>
              <a:t>多平台·多语言·多变体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50792" y="2514600"/>
            <a:ext cx="365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22C55E"/>
                </a:solidFill>
                <a:latin typeface="Microsoft YaHe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88536" y="1920240"/>
            <a:ext cx="1755648" cy="1737360"/>
          </a:xfrm>
          <a:prstGeom prst="roundRect">
            <a:avLst>
              <a:gd name="adj" fmla="val 8000"/>
            </a:avLst>
          </a:prstGeom>
          <a:solidFill>
            <a:srgbClr val="1A1D27"/>
          </a:solidFill>
          <a:ln w="12700">
            <a:solidFill>
              <a:srgbClr val="222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88536" y="2103120"/>
            <a:ext cx="175564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22C55E"/>
                </a:solidFill>
                <a:latin typeface="Microsoft YaHei"/>
              </a:rP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88536" y="2468880"/>
            <a:ext cx="175564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F0F2F5"/>
                </a:solidFill>
                <a:latin typeface="Microsoft YaHei"/>
              </a:rPr>
              <a:t>合规预检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88536" y="2926080"/>
            <a:ext cx="175564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9AA0AE"/>
                </a:solidFill>
                <a:latin typeface="Microsoft YaHei"/>
              </a:rPr>
              <a:t>LLM 扫描+改写建议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9320" y="2514600"/>
            <a:ext cx="365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22C55E"/>
                </a:solidFill>
                <a:latin typeface="Microsoft YaHe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27064" y="1920240"/>
            <a:ext cx="1755648" cy="1737360"/>
          </a:xfrm>
          <a:prstGeom prst="roundRect">
            <a:avLst>
              <a:gd name="adj" fmla="val 8000"/>
            </a:avLst>
          </a:prstGeom>
          <a:solidFill>
            <a:srgbClr val="222633"/>
          </a:solidFill>
          <a:ln w="12700">
            <a:solidFill>
              <a:srgbClr val="222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27064" y="2103120"/>
            <a:ext cx="175564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22C55E"/>
                </a:solidFill>
                <a:latin typeface="Microsoft YaHei"/>
              </a:rPr>
              <a:t>STEP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27064" y="2468880"/>
            <a:ext cx="175564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F0F2F5"/>
                </a:solidFill>
                <a:latin typeface="Microsoft YaHei"/>
              </a:rPr>
              <a:t>素材生成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27064" y="2926080"/>
            <a:ext cx="175564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9AA0AE"/>
                </a:solidFill>
                <a:latin typeface="Microsoft YaHei"/>
              </a:rPr>
              <a:t>场景视频+配音+字幕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27848" y="2514600"/>
            <a:ext cx="365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22C55E"/>
                </a:solidFill>
                <a:latin typeface="Microsoft YaHei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65592" y="1920240"/>
            <a:ext cx="1755648" cy="1737360"/>
          </a:xfrm>
          <a:prstGeom prst="roundRect">
            <a:avLst>
              <a:gd name="adj" fmla="val 8000"/>
            </a:avLst>
          </a:prstGeom>
          <a:solidFill>
            <a:srgbClr val="1A1D27"/>
          </a:solidFill>
          <a:ln w="12700">
            <a:solidFill>
              <a:srgbClr val="222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65592" y="2103120"/>
            <a:ext cx="175564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22C55E"/>
                </a:solidFill>
                <a:latin typeface="Microsoft YaHei"/>
              </a:rPr>
              <a:t>STEP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65592" y="2468880"/>
            <a:ext cx="175564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F0F2F5"/>
                </a:solidFill>
                <a:latin typeface="Microsoft YaHei"/>
              </a:rPr>
              <a:t>自动合成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65592" y="2926080"/>
            <a:ext cx="175564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9AA0AE"/>
                </a:solidFill>
                <a:latin typeface="Microsoft YaHei"/>
              </a:rPr>
              <a:t>FFmpeg 音画对齐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66376" y="2514600"/>
            <a:ext cx="365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22C55E"/>
                </a:solidFill>
                <a:latin typeface="Microsoft YaHei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104120" y="1920240"/>
            <a:ext cx="1755648" cy="1737360"/>
          </a:xfrm>
          <a:prstGeom prst="roundRect">
            <a:avLst>
              <a:gd name="adj" fmla="val 8000"/>
            </a:avLst>
          </a:prstGeom>
          <a:solidFill>
            <a:srgbClr val="222633"/>
          </a:solidFill>
          <a:ln w="12700">
            <a:solidFill>
              <a:srgbClr val="222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04120" y="2103120"/>
            <a:ext cx="175564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22C55E"/>
                </a:solidFill>
                <a:latin typeface="Microsoft YaHei"/>
              </a:rPr>
              <a:t>STEP 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04120" y="2468880"/>
            <a:ext cx="175564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F0F2F5"/>
                </a:solidFill>
                <a:latin typeface="Microsoft YaHei"/>
              </a:rPr>
              <a:t>成片交付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04120" y="2926080"/>
            <a:ext cx="175564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9AA0AE"/>
                </a:solidFill>
                <a:latin typeface="Microsoft YaHei"/>
              </a:rPr>
              <a:t>播放/下载/打包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411480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600" b="1">
                <a:solidFill>
                  <a:srgbClr val="F0F2F5"/>
                </a:solidFill>
                <a:latin typeface="Microsoft YaHei"/>
              </a:rPr>
              <a:t>▪ 输入极简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>
                <a:solidFill>
                  <a:srgbClr val="9AA0AE"/>
                </a:solidFill>
                <a:latin typeface="Microsoft YaHei"/>
              </a:rPr>
              <a:t>  只需产品名称、3-5 条卖点、1 张产品图，其余全部交给 AI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600" b="1">
                <a:solidFill>
                  <a:srgbClr val="F0F2F5"/>
                </a:solidFill>
                <a:latin typeface="Microsoft YaHei"/>
              </a:rPr>
              <a:t>▪ 输出完整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>
                <a:solidFill>
                  <a:srgbClr val="9AA0AE"/>
                </a:solidFill>
                <a:latin typeface="Microsoft YaHei"/>
              </a:rPr>
              <a:t>  TikTok / YouTube Shorts / Reels 竖屏成片，含配音、大字幕、发布文案，可直接上传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600" b="1">
                <a:solidFill>
                  <a:srgbClr val="F0F2F5"/>
                </a:solidFill>
                <a:latin typeface="Microsoft YaHei"/>
              </a:rPr>
              <a:t>▪ 全程可视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>
                <a:solidFill>
                  <a:srgbClr val="9AA0AE"/>
                </a:solidFill>
                <a:latin typeface="Microsoft YaHei"/>
              </a:rPr>
              <a:t>  脚本可审可改、合规可解释、生产进度实时推送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2C55E"/>
                </a:solidFill>
                <a:latin typeface="Microsoft YaHei"/>
              </a:rPr>
              <a:t>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0F2F5"/>
                </a:solidFill>
                <a:latin typeface="Microsoft YaHei"/>
              </a:rPr>
              <a:t>五大核心能力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1097280" cy="381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1828800"/>
            <a:ext cx="2157984" cy="3291840"/>
          </a:xfrm>
          <a:prstGeom prst="roundRect">
            <a:avLst>
              <a:gd name="adj" fmla="val 8000"/>
            </a:avLst>
          </a:prstGeom>
          <a:solidFill>
            <a:srgbClr val="1A1D27"/>
          </a:solidFill>
          <a:ln w="12700">
            <a:solidFill>
              <a:srgbClr val="222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2057400"/>
            <a:ext cx="1828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0F2F5"/>
                </a:solidFill>
                <a:latin typeface="Microsoft YaHei"/>
              </a:rPr>
              <a:t>📝 批量脚本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2926080"/>
            <a:ext cx="182880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9AA0AE"/>
                </a:solidFill>
                <a:latin typeface="Microsoft YaHei"/>
              </a:rPr>
              <a:t>一次产出 N 条差异化切入角度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9AA0AE"/>
                </a:solidFill>
                <a:latin typeface="Microsoft YaHei"/>
              </a:rPr>
              <a:t>功能卖点/场景痛点/促销/社交证明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52344" y="1828800"/>
            <a:ext cx="2157984" cy="3291840"/>
          </a:xfrm>
          <a:prstGeom prst="roundRect">
            <a:avLst>
              <a:gd name="adj" fmla="val 8000"/>
            </a:avLst>
          </a:prstGeom>
          <a:solidFill>
            <a:srgbClr val="1A1D27"/>
          </a:solidFill>
          <a:ln w="12700">
            <a:solidFill>
              <a:srgbClr val="222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16936" y="2057400"/>
            <a:ext cx="1828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0F2F5"/>
                </a:solidFill>
                <a:latin typeface="Microsoft YaHei"/>
              </a:rPr>
              <a:t>🌏 多语言本地化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16936" y="2926080"/>
            <a:ext cx="182880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9AA0AE"/>
                </a:solidFill>
                <a:latin typeface="Microsoft YaHei"/>
              </a:rPr>
              <a:t>英语/日语脚本+配音+字幕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9AA0AE"/>
                </a:solidFill>
                <a:latin typeface="Microsoft YaHei"/>
              </a:rPr>
              <a:t>本地化重写，而非直译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93208" y="1828800"/>
            <a:ext cx="2157984" cy="3291840"/>
          </a:xfrm>
          <a:prstGeom prst="roundRect">
            <a:avLst>
              <a:gd name="adj" fmla="val 8000"/>
            </a:avLst>
          </a:prstGeom>
          <a:solidFill>
            <a:srgbClr val="1A1D27"/>
          </a:solidFill>
          <a:ln w="12700">
            <a:solidFill>
              <a:srgbClr val="222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57800" y="2057400"/>
            <a:ext cx="1828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0F2F5"/>
                </a:solidFill>
                <a:latin typeface="Microsoft YaHei"/>
              </a:rPr>
              <a:t>🎞 产品保真混剪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2926080"/>
            <a:ext cx="182880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9AA0AE"/>
                </a:solidFill>
                <a:latin typeface="Microsoft YaHei"/>
              </a:rPr>
              <a:t>AI 场景视频 + 真实产品图运镜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9AA0AE"/>
                </a:solidFill>
                <a:latin typeface="Microsoft YaHei"/>
              </a:rPr>
              <a:t>机制上杜绝「货不对板」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34071" y="1828800"/>
            <a:ext cx="2157984" cy="3291840"/>
          </a:xfrm>
          <a:prstGeom prst="roundRect">
            <a:avLst>
              <a:gd name="adj" fmla="val 8000"/>
            </a:avLst>
          </a:prstGeom>
          <a:solidFill>
            <a:srgbClr val="1A1D27"/>
          </a:solidFill>
          <a:ln w="12700">
            <a:solidFill>
              <a:srgbClr val="222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98663" y="2057400"/>
            <a:ext cx="1828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0F2F5"/>
                </a:solidFill>
                <a:latin typeface="Microsoft YaHei"/>
              </a:rPr>
              <a:t>🛡 合规预检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98663" y="2926080"/>
            <a:ext cx="182880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9AA0AE"/>
                </a:solidFill>
                <a:latin typeface="Microsoft YaHei"/>
              </a:rPr>
              <a:t>LLM 对照 FTC/药机法/平台政策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9AA0AE"/>
                </a:solidFill>
                <a:latin typeface="Microsoft YaHei"/>
              </a:rPr>
              <a:t>检出违禁词并给改写建议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74936" y="1828800"/>
            <a:ext cx="2157984" cy="3291840"/>
          </a:xfrm>
          <a:prstGeom prst="roundRect">
            <a:avLst>
              <a:gd name="adj" fmla="val 8000"/>
            </a:avLst>
          </a:prstGeom>
          <a:solidFill>
            <a:srgbClr val="1A1D27"/>
          </a:solidFill>
          <a:ln w="12700">
            <a:solidFill>
              <a:srgbClr val="222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39528" y="2057400"/>
            <a:ext cx="1828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0F2F5"/>
                </a:solidFill>
                <a:latin typeface="Microsoft YaHei"/>
              </a:rPr>
              <a:t>📊 生产监控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39528" y="2926080"/>
            <a:ext cx="182880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9AA0AE"/>
                </a:solidFill>
                <a:latin typeface="Microsoft YaHei"/>
              </a:rPr>
              <a:t>WebSocket 实时进度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9AA0AE"/>
                </a:solidFill>
                <a:latin typeface="Microsoft YaHei"/>
              </a:rPr>
              <a:t>每条视频每个镜头可追踪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59E0B"/>
                </a:solidFill>
                <a:latin typeface="Microsoft YaHei"/>
              </a:rPr>
              <a:t>从「剪辑工具」到「内容供应链」——覆盖卖点 → 脚本 → 素材 → 合规 → 成片全链路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2C55E"/>
                </a:solidFill>
                <a:latin typeface="Microsoft YaHei"/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0F2F5"/>
                </a:solidFill>
                <a:latin typeface="Microsoft YaHei"/>
              </a:rPr>
              <a:t>现场演示：5 分钟出一条成片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1097280" cy="381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6766560" cy="4023360"/>
          </a:xfrm>
          <a:prstGeom prst="roundRect">
            <a:avLst>
              <a:gd name="adj" fmla="val 8000"/>
            </a:avLst>
          </a:prstGeom>
          <a:solidFill>
            <a:srgbClr val="222633"/>
          </a:solidFill>
          <a:ln w="12700">
            <a:solidFill>
              <a:srgbClr val="222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6217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22C55E"/>
                </a:solidFill>
                <a:latin typeface="Microsoft YaHei"/>
              </a:rPr>
              <a:t>演示流程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14600"/>
            <a:ext cx="62179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500" b="1">
                <a:solidFill>
                  <a:srgbClr val="F0F2F5"/>
                </a:solidFill>
                <a:latin typeface="Microsoft YaHei"/>
              </a:rPr>
              <a:t>▪ ① 产品档案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9AA0AE"/>
                </a:solidFill>
                <a:latin typeface="Microsoft YaHei"/>
              </a:rPr>
              <a:t>  录入 SoundPro X5 耳机：名称 + 卖点 + 产品图（图也是 AI 生成的）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500" b="1">
                <a:solidFill>
                  <a:srgbClr val="F0F2F5"/>
                </a:solidFill>
                <a:latin typeface="Microsoft YaHei"/>
              </a:rPr>
              <a:t>▪ ② 一键批量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9AA0AE"/>
                </a:solidFill>
                <a:latin typeface="Microsoft YaHei"/>
              </a:rPr>
              <a:t>  TikTok × 英语/日语 × 2 变体 = 4 条视频同时开工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500" b="1">
                <a:solidFill>
                  <a:srgbClr val="F0F2F5"/>
                </a:solidFill>
                <a:latin typeface="Microsoft YaHei"/>
              </a:rPr>
              <a:t>▪ ③ 脚本审阅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9AA0AE"/>
                </a:solidFill>
                <a:latin typeface="Microsoft YaHei"/>
              </a:rPr>
              <a:t>  查看 hook/台词/大字幕 + 合规检出（FTC 绝对化用语等）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500" b="1">
                <a:solidFill>
                  <a:srgbClr val="F0F2F5"/>
                </a:solidFill>
                <a:latin typeface="Microsoft YaHei"/>
              </a:rPr>
              <a:t>▪ ④ 播放成片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9AA0AE"/>
                </a:solidFill>
                <a:latin typeface="Microsoft YaHei"/>
              </a:rPr>
              <a:t>  29.7s 保温杯英文版实拍效果 + 日语版对比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500" b="1">
                <a:solidFill>
                  <a:srgbClr val="F0F2F5"/>
                </a:solidFill>
                <a:latin typeface="Microsoft YaHei"/>
              </a:rPr>
              <a:t>▪ ⑤ 打包下载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9AA0AE"/>
                </a:solidFill>
                <a:latin typeface="Microsoft YaHei"/>
              </a:rPr>
              <a:t>  整包 zip，直接投放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1737360"/>
            <a:ext cx="3840480" cy="4023360"/>
          </a:xfrm>
          <a:prstGeom prst="roundRect">
            <a:avLst>
              <a:gd name="adj" fmla="val 8000"/>
            </a:avLst>
          </a:prstGeom>
          <a:solidFill>
            <a:srgbClr val="1A1D27"/>
          </a:solidFill>
          <a:ln w="12700">
            <a:solidFill>
              <a:srgbClr val="222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79" y="196596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22C55E"/>
                </a:solidFill>
                <a:latin typeface="Microsoft YaHei"/>
              </a:rPr>
              <a:t>在线体验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2560320"/>
            <a:ext cx="32918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0F2F5"/>
                </a:solidFill>
                <a:latin typeface="Microsoft YaHei"/>
              </a:rPr>
              <a:t>http://36.212.51.4:10045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3200400"/>
            <a:ext cx="329184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9AA0AE"/>
                </a:solidFill>
                <a:latin typeface="Microsoft YaHei"/>
              </a:rPr>
              <a:t>无需账号，开放体验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9AA0AE"/>
                </a:solidFill>
                <a:latin typeface="Microsoft YaHe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9AA0AE"/>
                </a:solidFill>
                <a:latin typeface="Microsoft YaHei"/>
              </a:rPr>
              <a:t>（此处放体验地址二维码）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2C55E"/>
                </a:solidFill>
                <a:latin typeface="Microsoft YaHe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0F2F5"/>
                </a:solidFill>
                <a:latin typeface="Microsoft YaHei"/>
              </a:rPr>
              <a:t>真实成片：AI 全自动产出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1097280" cy="381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972800" cy="914400"/>
          </a:xfrm>
          <a:prstGeom prst="roundRect">
            <a:avLst>
              <a:gd name="adj" fmla="val 8000"/>
            </a:avLst>
          </a:prstGeom>
          <a:solidFill>
            <a:srgbClr val="222633"/>
          </a:solidFill>
          <a:ln w="12700">
            <a:solidFill>
              <a:srgbClr val="222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92808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0F2F5"/>
                </a:solidFill>
                <a:latin typeface="Microsoft YaHei"/>
              </a:rPr>
              <a:t>UrbanFlow 保温杯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1929384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3B82F6"/>
                </a:solidFill>
                <a:latin typeface="Microsoft YaHei"/>
              </a:rPr>
              <a:t>英语 × TikTok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929384"/>
            <a:ext cx="1097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2C55E"/>
                </a:solidFill>
                <a:latin typeface="Microsoft YaHei"/>
              </a:rPr>
              <a:t>29.7s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1929384"/>
            <a:ext cx="4297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A0AE"/>
                </a:solidFill>
                <a:latin typeface="Microsoft YaHei"/>
              </a:rPr>
              <a:t>AI 场景视频 + 产品图运镜 + 英文配音 + 大字幕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834639"/>
            <a:ext cx="10972800" cy="914400"/>
          </a:xfrm>
          <a:prstGeom prst="roundRect">
            <a:avLst>
              <a:gd name="adj" fmla="val 8000"/>
            </a:avLst>
          </a:prstGeom>
          <a:solidFill>
            <a:srgbClr val="1A1D27"/>
          </a:solidFill>
          <a:ln w="12700">
            <a:solidFill>
              <a:srgbClr val="222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944367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0F2F5"/>
                </a:solidFill>
                <a:latin typeface="Microsoft YaHei"/>
              </a:rPr>
              <a:t>UrbanFlow 保温杯 v2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2980943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3B82F6"/>
                </a:solidFill>
                <a:latin typeface="Microsoft YaHei"/>
              </a:rPr>
              <a:t>英语 × TikTok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980943"/>
            <a:ext cx="1097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2C55E"/>
                </a:solidFill>
                <a:latin typeface="Microsoft YaHei"/>
              </a:rPr>
              <a:t>变体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2980943"/>
            <a:ext cx="4297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A0AE"/>
                </a:solidFill>
                <a:latin typeface="Microsoft YaHei"/>
              </a:rPr>
              <a:t>同一产品不同切入角度，验证批量差异化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886200"/>
            <a:ext cx="10972800" cy="914400"/>
          </a:xfrm>
          <a:prstGeom prst="roundRect">
            <a:avLst>
              <a:gd name="adj" fmla="val 8000"/>
            </a:avLst>
          </a:prstGeom>
          <a:solidFill>
            <a:srgbClr val="222633"/>
          </a:solidFill>
          <a:ln w="12700">
            <a:solidFill>
              <a:srgbClr val="222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995928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0F2F5"/>
                </a:solidFill>
                <a:latin typeface="Microsoft YaHei"/>
              </a:rPr>
              <a:t>SoundPro X5 耳机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4032504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3B82F6"/>
                </a:solidFill>
                <a:latin typeface="Microsoft YaHei"/>
              </a:rPr>
              <a:t>英语/日语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4032504"/>
            <a:ext cx="1097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2C55E"/>
                </a:solidFill>
                <a:latin typeface="Microsoft YaHei"/>
              </a:rPr>
              <a:t>25s 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4032504"/>
            <a:ext cx="4297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A0AE"/>
                </a:solidFill>
                <a:latin typeface="Microsoft YaHei"/>
              </a:rPr>
              <a:t>多语言配音 + 本地化字幕样式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12064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9AA0AE"/>
                </a:solidFill>
                <a:latin typeface="Microsoft YaHei"/>
              </a:rPr>
              <a:t>（此处贴 2-3 张成片截帧拼图 + 成片播放二维码）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6235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59E0B"/>
                </a:solidFill>
                <a:latin typeface="Microsoft YaHei"/>
              </a:rPr>
              <a:t>关键指标：单条 5 镜头成片 4-6 分钟 · 支持多平台多语言多变体并行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2C55E"/>
                </a:solidFill>
                <a:latin typeface="Microsoft YaHe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0F2F5"/>
                </a:solidFill>
                <a:latin typeface="Microsoft YaHei"/>
              </a:rPr>
              <a:t>技术架构：云端大模型矩阵驱动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1097280" cy="381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3520440" cy="914400"/>
          </a:xfrm>
          <a:prstGeom prst="roundRect">
            <a:avLst>
              <a:gd name="adj" fmla="val 8000"/>
            </a:avLst>
          </a:prstGeom>
          <a:solidFill>
            <a:srgbClr val="222633"/>
          </a:solidFill>
          <a:ln w="12700">
            <a:solidFill>
              <a:srgbClr val="222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10512"/>
            <a:ext cx="3520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0F2F5"/>
                </a:solidFill>
                <a:latin typeface="Microsoft YaHei"/>
              </a:rPr>
              <a:t>Vue 3 + Vite 前端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3520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AA0AE"/>
                </a:solidFill>
                <a:latin typeface="Microsoft YaHei"/>
              </a:rPr>
              <a:t>10045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691640"/>
            <a:ext cx="3520440" cy="914400"/>
          </a:xfrm>
          <a:prstGeom prst="roundRect">
            <a:avLst>
              <a:gd name="adj" fmla="val 8000"/>
            </a:avLst>
          </a:prstGeom>
          <a:solidFill>
            <a:srgbClr val="222633"/>
          </a:solidFill>
          <a:ln w="12700">
            <a:solidFill>
              <a:srgbClr val="222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810512"/>
            <a:ext cx="3520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0F2F5"/>
                </a:solidFill>
                <a:latin typeface="Microsoft YaHei"/>
              </a:rPr>
              <a:t>FastAPI 业务后端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194560"/>
            <a:ext cx="3520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AA0AE"/>
                </a:solidFill>
                <a:latin typeface="Microsoft YaHei"/>
              </a:rPr>
              <a:t>10046 · SQLite · FFmpeg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691640"/>
            <a:ext cx="3520440" cy="914400"/>
          </a:xfrm>
          <a:prstGeom prst="roundRect">
            <a:avLst>
              <a:gd name="adj" fmla="val 8000"/>
            </a:avLst>
          </a:prstGeom>
          <a:solidFill>
            <a:srgbClr val="222633"/>
          </a:solidFill>
          <a:ln w="12700">
            <a:solidFill>
              <a:srgbClr val="222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810512"/>
            <a:ext cx="3520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0F2F5"/>
                </a:solidFill>
                <a:latin typeface="Microsoft YaHei"/>
              </a:rPr>
              <a:t>WebSocket 实时监控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194560"/>
            <a:ext cx="3520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AA0AE"/>
                </a:solidFill>
                <a:latin typeface="Microsoft YaHei"/>
              </a:rPr>
              <a:t>逐镜头进度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2743200"/>
            <a:ext cx="121916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22C55E"/>
                </a:solidFill>
                <a:latin typeface="Microsoft YaHei"/>
              </a:rPr>
              <a:t>↓  Provider 抽象层（云端/本地双引擎，按模块一键切换）  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291840"/>
            <a:ext cx="2660904" cy="1737360"/>
          </a:xfrm>
          <a:prstGeom prst="roundRect">
            <a:avLst>
              <a:gd name="adj" fmla="val 8000"/>
            </a:avLst>
          </a:prstGeom>
          <a:solidFill>
            <a:srgbClr val="1A1D27"/>
          </a:solidFill>
          <a:ln w="12700">
            <a:solidFill>
              <a:srgbClr val="222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42900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2C55E"/>
                </a:solidFill>
                <a:latin typeface="Microsoft YaHei"/>
              </a:rPr>
              <a:t>qwen3.7-plus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886200"/>
            <a:ext cx="23774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A0AE"/>
                </a:solidFill>
                <a:latin typeface="Microsoft YaHei"/>
              </a:rPr>
              <a:t>脚本生成 + 合规预检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A0AE"/>
                </a:solidFill>
                <a:latin typeface="Microsoft YaHei"/>
              </a:rPr>
              <a:t>OpenAI 兼容 · JSON 结构化输出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83863" y="3291840"/>
            <a:ext cx="2660904" cy="1737360"/>
          </a:xfrm>
          <a:prstGeom prst="roundRect">
            <a:avLst>
              <a:gd name="adj" fmla="val 8000"/>
            </a:avLst>
          </a:prstGeom>
          <a:solidFill>
            <a:srgbClr val="1A1D27"/>
          </a:solidFill>
          <a:ln w="12700">
            <a:solidFill>
              <a:srgbClr val="222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3" y="342900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2C55E"/>
                </a:solidFill>
                <a:latin typeface="Microsoft YaHei"/>
              </a:rPr>
              <a:t>qwen-image-2.0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21023" y="3886200"/>
            <a:ext cx="23774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A0AE"/>
                </a:solidFill>
                <a:latin typeface="Microsoft YaHei"/>
              </a:rPr>
              <a:t>AI 场景图生成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A0AE"/>
                </a:solidFill>
                <a:latin typeface="Microsoft YaHei"/>
              </a:rPr>
              <a:t>原生多模态生成端点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27648" y="3291840"/>
            <a:ext cx="2660904" cy="1737360"/>
          </a:xfrm>
          <a:prstGeom prst="roundRect">
            <a:avLst>
              <a:gd name="adj" fmla="val 8000"/>
            </a:avLst>
          </a:prstGeom>
          <a:solidFill>
            <a:srgbClr val="1A1D27"/>
          </a:solidFill>
          <a:ln w="12700">
            <a:solidFill>
              <a:srgbClr val="222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4808" y="342900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2C55E"/>
                </a:solidFill>
                <a:latin typeface="Microsoft YaHei"/>
              </a:rPr>
              <a:t>happyhorse-1.1-t2v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4808" y="3886200"/>
            <a:ext cx="23774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A0AE"/>
                </a:solidFill>
                <a:latin typeface="Microsoft YaHei"/>
              </a:rPr>
              <a:t>文生视频（场景镜头）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A0AE"/>
                </a:solidFill>
                <a:latin typeface="Microsoft YaHei"/>
              </a:rPr>
              <a:t>异步任务 + 轮询取回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71432" y="3291840"/>
            <a:ext cx="2660904" cy="1737360"/>
          </a:xfrm>
          <a:prstGeom prst="roundRect">
            <a:avLst>
              <a:gd name="adj" fmla="val 8000"/>
            </a:avLst>
          </a:prstGeom>
          <a:solidFill>
            <a:srgbClr val="1A1D27"/>
          </a:solidFill>
          <a:ln w="12700">
            <a:solidFill>
              <a:srgbClr val="222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08592" y="342900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2C55E"/>
                </a:solidFill>
                <a:latin typeface="Microsoft YaHei"/>
              </a:rPr>
              <a:t>qwen-audio-3.0-tts-plus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08592" y="3886200"/>
            <a:ext cx="23774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A0AE"/>
                </a:solidFill>
                <a:latin typeface="Microsoft YaHei"/>
              </a:rPr>
              <a:t>多语言配音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A0AE"/>
                </a:solidFill>
                <a:latin typeface="Microsoft YaHei"/>
              </a:rPr>
              <a:t>英/日/中 多音色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3035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59E0B"/>
                </a:solidFill>
                <a:latin typeface="Microsoft YaHei"/>
              </a:rPr>
              <a:t>全部 AI 能力走阿里云百炼 Token Plan 专属通道 · 弹性按量 · 免 GPU 运维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2C55E"/>
                </a:solidFill>
                <a:latin typeface="Microsoft YaHei"/>
              </a:rPr>
              <a:t>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0F2F5"/>
                </a:solidFill>
                <a:latin typeface="Microsoft YaHei"/>
              </a:rPr>
              <a:t>四个关键技术创新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1097280" cy="381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349240" cy="1920240"/>
          </a:xfrm>
          <a:prstGeom prst="roundRect">
            <a:avLst>
              <a:gd name="adj" fmla="val 8000"/>
            </a:avLst>
          </a:prstGeom>
          <a:solidFill>
            <a:srgbClr val="222633"/>
          </a:solidFill>
          <a:ln w="12700">
            <a:solidFill>
              <a:srgbClr val="222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0F2F5"/>
                </a:solidFill>
                <a:latin typeface="Microsoft YaHei"/>
              </a:rPr>
              <a:t>01  双 LLM 协同链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4800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9AA0AE"/>
                </a:solidFill>
                <a:latin typeface="Microsoft YaHei"/>
              </a:rPr>
              <a:t>创作 LLM + 合规 LLM 串联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9AA0AE"/>
                </a:solidFill>
                <a:latin typeface="Microsoft YaHei"/>
              </a:rPr>
              <a:t>创意与风控一次完成，可解释可干预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737360"/>
            <a:ext cx="5349240" cy="1920240"/>
          </a:xfrm>
          <a:prstGeom prst="roundRect">
            <a:avLst>
              <a:gd name="adj" fmla="val 8000"/>
            </a:avLst>
          </a:prstGeom>
          <a:solidFill>
            <a:srgbClr val="1A1D27"/>
          </a:solidFill>
          <a:ln w="12700">
            <a:solidFill>
              <a:srgbClr val="222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92024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0F2F5"/>
                </a:solidFill>
                <a:latin typeface="Microsoft YaHei"/>
              </a:rPr>
              <a:t>02  产品保真混剪机制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468880"/>
            <a:ext cx="4800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9AA0AE"/>
                </a:solidFill>
                <a:latin typeface="Microsoft YaHei"/>
              </a:rPr>
              <a:t>AI 只做氛围场景，产品本体用真实图运镜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9AA0AE"/>
                </a:solidFill>
                <a:latin typeface="Microsoft YaHei"/>
              </a:rPr>
              <a:t>从生成机制上解决「货不对板」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886200"/>
            <a:ext cx="5349240" cy="1920240"/>
          </a:xfrm>
          <a:prstGeom prst="roundRect">
            <a:avLst>
              <a:gd name="adj" fmla="val 8000"/>
            </a:avLst>
          </a:prstGeom>
          <a:solidFill>
            <a:srgbClr val="222633"/>
          </a:solidFill>
          <a:ln w="12700">
            <a:solidFill>
              <a:srgbClr val="222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6908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0F2F5"/>
                </a:solidFill>
                <a:latin typeface="Microsoft YaHei"/>
              </a:rPr>
              <a:t>03  Provider 双引擎架构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617720"/>
            <a:ext cx="4800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9AA0AE"/>
                </a:solidFill>
                <a:latin typeface="Microsoft YaHei"/>
              </a:rPr>
              <a:t>云端百炼 / 本地模型按模块热切换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9AA0AE"/>
                </a:solidFill>
                <a:latin typeface="Microsoft YaHei"/>
              </a:rPr>
              <a:t>不被单一供应商锁定，成本可控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886200"/>
            <a:ext cx="5349240" cy="1920240"/>
          </a:xfrm>
          <a:prstGeom prst="roundRect">
            <a:avLst>
              <a:gd name="adj" fmla="val 8000"/>
            </a:avLst>
          </a:prstGeom>
          <a:solidFill>
            <a:srgbClr val="1A1D27"/>
          </a:solidFill>
          <a:ln w="12700">
            <a:solidFill>
              <a:srgbClr val="222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406908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0F2F5"/>
                </a:solidFill>
                <a:latin typeface="Microsoft YaHei"/>
              </a:rPr>
              <a:t>04  工业化生产管线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4617720"/>
            <a:ext cx="4800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9AA0AE"/>
                </a:solidFill>
                <a:latin typeface="Microsoft YaHei"/>
              </a:rPr>
              <a:t>脚本 JSON 化 → 素材并行 → FFmpeg 自动合成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9AA0AE"/>
                </a:solidFill>
                <a:latin typeface="Microsoft YaHei"/>
              </a:rPr>
              <a:t>断点续跑，支持百条级批量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2C55E"/>
                </a:solidFill>
                <a:latin typeface="Microsoft YaHei"/>
              </a:rPr>
              <a:t>BUSINESS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0F2F5"/>
                </a:solidFill>
                <a:latin typeface="Microsoft YaHei"/>
              </a:rPr>
              <a:t>商业落地：成本、模式、路径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1097280" cy="381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5394960" cy="4114800"/>
          </a:xfrm>
          <a:prstGeom prst="roundRect">
            <a:avLst>
              <a:gd name="adj" fmla="val 8000"/>
            </a:avLst>
          </a:prstGeom>
          <a:solidFill>
            <a:srgbClr val="222633"/>
          </a:solidFill>
          <a:ln w="12700">
            <a:solidFill>
              <a:srgbClr val="222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22C55E"/>
                </a:solidFill>
                <a:latin typeface="Microsoft YaHei"/>
              </a:rPr>
              <a:t>价值量化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2316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9AA0AE"/>
                </a:solidFill>
                <a:latin typeface="Microsoft YaHei"/>
              </a:rPr>
              <a:t>单条成本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242316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0F2F5"/>
                </a:solidFill>
                <a:latin typeface="Microsoft YaHei"/>
              </a:rPr>
              <a:t>¥200-800  →  &lt;¥5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4612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9AA0AE"/>
                </a:solidFill>
                <a:latin typeface="Microsoft YaHei"/>
              </a:rPr>
              <a:t>产出周期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324612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0F2F5"/>
                </a:solidFill>
                <a:latin typeface="Microsoft YaHei"/>
              </a:rPr>
              <a:t>1-3 天  →  4-6 分钟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06908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9AA0AE"/>
                </a:solidFill>
                <a:latin typeface="Microsoft YaHei"/>
              </a:rPr>
              <a:t>多语言版本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406908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0F2F5"/>
                </a:solidFill>
                <a:latin typeface="Microsoft YaHei"/>
              </a:rPr>
              <a:t>按语言加价  →  边际成本≈0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89204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9AA0AE"/>
                </a:solidFill>
                <a:latin typeface="Microsoft YaHei"/>
              </a:rPr>
              <a:t>日产能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489204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0F2F5"/>
                </a:solidFill>
                <a:latin typeface="Microsoft YaHei"/>
              </a:rPr>
              <a:t>3-5 条/人  →  百条级并行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691640"/>
            <a:ext cx="5257800" cy="4114800"/>
          </a:xfrm>
          <a:prstGeom prst="roundRect">
            <a:avLst>
              <a:gd name="adj" fmla="val 8000"/>
            </a:avLst>
          </a:prstGeom>
          <a:solidFill>
            <a:srgbClr val="1A1D27"/>
          </a:solidFill>
          <a:ln w="12700">
            <a:solidFill>
              <a:srgbClr val="222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1874519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22C55E"/>
                </a:solidFill>
                <a:latin typeface="Microsoft YaHei"/>
              </a:rPr>
              <a:t>商业模式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42316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400" b="1">
                <a:solidFill>
                  <a:srgbClr val="F0F2F5"/>
                </a:solidFill>
                <a:latin typeface="Microsoft YaHei"/>
              </a:rPr>
              <a:t>▪ SaaS 订阅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00">
                <a:solidFill>
                  <a:srgbClr val="9AA0AE"/>
                </a:solidFill>
                <a:latin typeface="Microsoft YaHei"/>
              </a:rPr>
              <a:t>  基础版 ¥299/月 · 专业版 ¥999/月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400" b="1">
                <a:solidFill>
                  <a:srgbClr val="F0F2F5"/>
                </a:solidFill>
                <a:latin typeface="Microsoft YaHei"/>
              </a:rPr>
              <a:t>▪ 按量付费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00">
                <a:solidFill>
                  <a:srgbClr val="9AA0AE"/>
                </a:solidFill>
                <a:latin typeface="Microsoft YaHei"/>
              </a:rPr>
              <a:t>  按成片条数计费，中小卖家零门槛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400" b="1">
                <a:solidFill>
                  <a:srgbClr val="F0F2F5"/>
                </a:solidFill>
                <a:latin typeface="Microsoft YaHei"/>
              </a:rPr>
              <a:t>▪ API / 私有化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00">
                <a:solidFill>
                  <a:srgbClr val="9AA0AE"/>
                </a:solidFill>
                <a:latin typeface="Microsoft YaHei"/>
              </a:rPr>
              <a:t>  为 MCN 与品牌方提供内容生产 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52628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22C55E"/>
                </a:solidFill>
                <a:latin typeface="Microsoft YaHei"/>
              </a:rPr>
              <a:t>落地路径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5029200"/>
            <a:ext cx="4754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A0AE"/>
                </a:solidFill>
                <a:latin typeface="Microsoft YaHei"/>
              </a:rPr>
              <a:t>0-3月 TikTok Shop 卖家灰度 100 家 → 3-6月 接入店小秘/马帮等 ERP 插件分发 → 6-12月 升级跨境内容中台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2C55E"/>
                </a:solidFill>
                <a:latin typeface="Microsoft YaHei"/>
              </a:rPr>
              <a:t>MILESTONES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0F2F5"/>
                </a:solidFill>
                <a:latin typeface="Microsoft YaHei"/>
              </a:rPr>
              <a:t>已验证的阶段成果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1097280" cy="381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5349240" cy="1874519"/>
          </a:xfrm>
          <a:prstGeom prst="roundRect">
            <a:avLst>
              <a:gd name="adj" fmla="val 8000"/>
            </a:avLst>
          </a:prstGeom>
          <a:solidFill>
            <a:srgbClr val="222633"/>
          </a:solidFill>
          <a:ln w="12700">
            <a:solidFill>
              <a:srgbClr val="222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22C55E"/>
                </a:solidFill>
                <a:latin typeface="Microsoft YaHei"/>
              </a:rPr>
              <a:t>✔ 完整可体验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32888"/>
            <a:ext cx="4800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9AA0AE"/>
                </a:solidFill>
                <a:latin typeface="Microsoft YaHei"/>
              </a:rPr>
              <a:t>录入→脚本→合规→素材→合成→下载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9AA0AE"/>
                </a:solidFill>
                <a:latin typeface="Microsoft YaHei"/>
              </a:rPr>
              <a:t>全业务闭环在线可用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783080"/>
            <a:ext cx="5349240" cy="1874519"/>
          </a:xfrm>
          <a:prstGeom prst="roundRect">
            <a:avLst>
              <a:gd name="adj" fmla="val 8000"/>
            </a:avLst>
          </a:prstGeom>
          <a:solidFill>
            <a:srgbClr val="1A1D27"/>
          </a:solidFill>
          <a:ln w="12700">
            <a:solidFill>
              <a:srgbClr val="222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96596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22C55E"/>
                </a:solidFill>
                <a:latin typeface="Microsoft YaHei"/>
              </a:rPr>
              <a:t>✔ 真实成片产出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532888"/>
            <a:ext cx="4800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9AA0AE"/>
                </a:solidFill>
                <a:latin typeface="Microsoft YaHei"/>
              </a:rPr>
              <a:t>英语/日语 × TikTok 多条成片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9AA0AE"/>
                </a:solidFill>
                <a:latin typeface="Microsoft YaHei"/>
              </a:rPr>
              <a:t>单条 25-30s，4-6 分钟交付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886200"/>
            <a:ext cx="5349240" cy="1874519"/>
          </a:xfrm>
          <a:prstGeom prst="roundRect">
            <a:avLst>
              <a:gd name="adj" fmla="val 8000"/>
            </a:avLst>
          </a:prstGeom>
          <a:solidFill>
            <a:srgbClr val="222633"/>
          </a:solidFill>
          <a:ln w="12700">
            <a:solidFill>
              <a:srgbClr val="222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6908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22C55E"/>
                </a:solidFill>
                <a:latin typeface="Microsoft YaHei"/>
              </a:rPr>
              <a:t>✔ 合规能力实测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636008"/>
            <a:ext cx="4800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9AA0AE"/>
                </a:solidFill>
                <a:latin typeface="Microsoft YaHei"/>
              </a:rPr>
              <a:t>真实检出 FTC 绝对化用语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9AA0AE"/>
                </a:solidFill>
                <a:latin typeface="Microsoft YaHei"/>
              </a:rPr>
              <a:t>虚假紧迫感等 4 类风险并给建议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886200"/>
            <a:ext cx="5349240" cy="1874519"/>
          </a:xfrm>
          <a:prstGeom prst="roundRect">
            <a:avLst>
              <a:gd name="adj" fmla="val 8000"/>
            </a:avLst>
          </a:prstGeom>
          <a:solidFill>
            <a:srgbClr val="1A1D27"/>
          </a:solidFill>
          <a:ln w="12700">
            <a:solidFill>
              <a:srgbClr val="222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406908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22C55E"/>
                </a:solidFill>
                <a:latin typeface="Microsoft YaHei"/>
              </a:rPr>
              <a:t>✔ 全云端 AI 矩阵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4636008"/>
            <a:ext cx="4800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9AA0AE"/>
                </a:solidFill>
                <a:latin typeface="Microsoft YaHei"/>
              </a:rPr>
              <a:t>脚本/绘图/视频/配音 四类模型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9AA0AE"/>
                </a:solidFill>
                <a:latin typeface="Microsoft YaHei"/>
              </a:rPr>
              <a:t>全部走百炼 Token Plan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59E0B"/>
                </a:solidFill>
                <a:latin typeface="Microsoft YaHei"/>
              </a:rPr>
              <a:t>体验地址：http://36.212.51.4:10045（无需登录）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737360"/>
            <a:ext cx="121916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22C55E"/>
                </a:solidFill>
                <a:latin typeface="Microsoft YaHei"/>
              </a:rPr>
              <a:t>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194560"/>
            <a:ext cx="121916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F0F2F5"/>
                </a:solidFill>
                <a:latin typeface="Microsoft YaHei"/>
              </a:rPr>
              <a:t>从短视频工具，到跨境内容中台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3383280"/>
            <a:ext cx="88696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0">
                <a:solidFill>
                  <a:srgbClr val="9AA0AE"/>
                </a:solidFill>
                <a:latin typeface="Microsoft YaHei"/>
              </a:rPr>
              <a:t>短视频批量生产 → 直播切片 → 详情页视频 → 投放素材 A/B 测试</a:t>
            </a:r>
          </a:p>
          <a:p>
            <a:pPr algn="ctr">
              <a:lnSpc>
                <a:spcPct val="115000"/>
              </a:lnSpc>
            </a:pPr>
            <a:r>
              <a:rPr sz="1900" b="0">
                <a:solidFill>
                  <a:srgbClr val="9AA0AE"/>
                </a:solidFill>
                <a:latin typeface="Microsoft YaHei"/>
              </a:rPr>
              <a:t>让 AI 成为每个跨境卖家的内容基础设施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23360" y="4937760"/>
            <a:ext cx="4114800" cy="822960"/>
          </a:xfrm>
          <a:prstGeom prst="roundRect">
            <a:avLst>
              <a:gd name="adj" fmla="val 50000"/>
            </a:avLst>
          </a:prstGeom>
          <a:solidFill>
            <a:srgbClr val="1A1D27"/>
          </a:solidFill>
          <a:ln w="12700">
            <a:solidFill>
              <a:srgbClr val="222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23360" y="5074920"/>
            <a:ext cx="4114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0F2F5"/>
                </a:solidFill>
                <a:latin typeface="Microsoft YaHei"/>
              </a:rPr>
              <a:t>谢谢聆听 · 恳请评委指导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